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83" r:id="rId5"/>
    <p:sldId id="284" r:id="rId6"/>
    <p:sldId id="306" r:id="rId7"/>
    <p:sldId id="308" r:id="rId8"/>
    <p:sldId id="309" r:id="rId9"/>
    <p:sldId id="317" r:id="rId10"/>
    <p:sldId id="318" r:id="rId11"/>
    <p:sldId id="319" r:id="rId12"/>
    <p:sldId id="320" r:id="rId13"/>
    <p:sldId id="321" r:id="rId14"/>
    <p:sldId id="326" r:id="rId15"/>
    <p:sldId id="327" r:id="rId16"/>
    <p:sldId id="322" r:id="rId17"/>
    <p:sldId id="323" r:id="rId18"/>
    <p:sldId id="312" r:id="rId19"/>
    <p:sldId id="324" r:id="rId20"/>
    <p:sldId id="32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0655" autoAdjust="0"/>
  </p:normalViewPr>
  <p:slideViewPr>
    <p:cSldViewPr snapToGrid="0">
      <p:cViewPr varScale="1">
        <p:scale>
          <a:sx n="77" d="100"/>
          <a:sy n="77" d="100"/>
        </p:scale>
        <p:origin x="821" y="77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D290-ACDB-F0D4-9177-64DDF8675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6C25D-6E18-7012-D5A9-6BABE0A05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0F1FD-ED6F-C90A-FE21-960D42D5F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2FA5B-A20D-E3CD-CAC8-AA7D46AB1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51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9C174-915C-6581-B347-38690808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1FB90-B2A6-C08D-C04D-F51875149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2D676-A6FA-AD49-0824-8981BB2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8AA79-3430-B9CB-1C41-B14F0750E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071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58345-15FE-05D2-21DB-A9610551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7724A-5F23-F851-4FE7-1DD6A6ED5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D43B7-393A-396E-CDA9-2D41AAFBC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A74CB-8FB4-3345-F455-3D796E3B0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417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4EE6-E646-9AEA-9723-929D02F5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2B61B-78CC-ADB3-9B27-714366F10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59709-CDCA-1073-4DC7-95EA51ACC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4E150-8ADA-FF57-F83A-2C84CF6C9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9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DA84-D1D6-C0BC-1B22-E30A718F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CD91B-4180-2056-F402-E8707F731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DA84-E3F0-9EBE-C180-C17824C8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1972E-74F0-65F0-898A-0BA6838B0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083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60F26-F8C3-C5A8-2D91-946C7E47C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DBC81-6433-C0B7-071E-0D96FF058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D611B-27E2-A8EC-CEFE-5AE1B4C6A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99E01-2078-70F0-270C-C2667A475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91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DD6B-4551-D96B-0989-3015A741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875E3-DF5D-7A67-EB7A-6CBF84E9C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74934-6106-2479-B6AD-AA7274C1B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3C05C-881C-23B9-B815-E552B0E26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622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FBF4-837B-22D5-2193-C5DCEA58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818AA-EC4C-EF4B-C091-A99D5C6C9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EA285-F735-4A4A-73FB-C57AC34F0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9E8EA-F8A9-7785-9AD4-8C8EADB8D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635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D40B-3AE0-AD54-E244-A78B14ED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54688-BAA6-18E7-5BEB-3018D1869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36AFD-9FCA-30D0-708A-1FDBE679D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EC5CE-B1B8-868A-FB9F-E846FF378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127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88D0E-6F64-5AC4-A285-A4000628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D2387-552E-E329-7C80-016C04F40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F7F1C-83CF-D1B5-6984-3C1E5D401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D46C7-B8F0-D27F-0F13-E2CD422CB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172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884C-8BDE-97AB-162B-0807448A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FE406-0D5E-67DB-B9EC-6B8CE7FEB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F7CBE-AB9E-A1D9-8029-B6C93A744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636E3-52BA-438A-FA13-3947B3FF9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039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E3C82-C83F-7EB4-F980-251BAB93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E12DC-733C-C0AB-985D-4BC46995C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15849-7F45-8EF9-6D9F-4C103E8BE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4C8F8-B88A-EF36-9263-C4F03B114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959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EB12-0209-3DDD-A8FB-3FE8AAF7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C0A09-6448-1E91-B418-FE6BBFDAD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D4140-721A-8C93-DDEF-434C95EB6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CF2D7-1FF2-B00C-B504-03B2AE41C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411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59C0-CEB7-5E6E-B3CB-537C4A59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A6AA7-223D-8B2A-EC3F-11D64B5AE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C8D52-1341-503A-B30E-95423D773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2E293-943D-DCDA-8840-B460522BA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01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EF61B-25E4-1C53-7799-CB414BB29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9B9D4-4344-9426-63BE-C3B520EAD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91205-8313-C491-5F6D-A8FD8D143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2A6F0-986D-826F-B463-A563463D2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970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1AD7-CFE2-55AF-4CB8-78BA9373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0E978-59DA-F82C-F6A8-73398B981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979D3-CD11-695E-2A04-587981DFF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7682F-77A8-EEC3-40CE-40FA206C9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20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eepseek-ai/deepseek-coder-1.3b-instruc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alviya7665/deepseek-complexity-1.3b" TargetMode="External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AE6C37F-7DAC-094A-A8D7-27492C63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6BFC3-6EFD-658A-640B-831269E6A178}"/>
              </a:ext>
            </a:extLst>
          </p:cNvPr>
          <p:cNvSpPr txBox="1"/>
          <p:nvPr/>
        </p:nvSpPr>
        <p:spPr>
          <a:xfrm>
            <a:off x="1285460" y="2402628"/>
            <a:ext cx="96210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algn="ctr"/>
            <a:r>
              <a:rPr lang="en-IN" dirty="0"/>
              <a:t>MANISH KUMAR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SC24M147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MA642 – DATA MODELING LAB II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INDIAN INSTITUTE OF SPACE SCIENCE AND TECHNOLOGY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9FA05-B6B8-B665-5282-FA248608502C}"/>
              </a:ext>
            </a:extLst>
          </p:cNvPr>
          <p:cNvSpPr txBox="1"/>
          <p:nvPr/>
        </p:nvSpPr>
        <p:spPr>
          <a:xfrm>
            <a:off x="1285460" y="455889"/>
            <a:ext cx="962107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PROJECT PRESENTATION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US" sz="2400" dirty="0">
                <a:solidFill>
                  <a:srgbClr val="0070C0"/>
                </a:solidFill>
              </a:rPr>
              <a:t>Fine-Tuning LLM for Time Complexity Prediction</a:t>
            </a:r>
            <a:endParaRPr lang="en-IN" sz="2400" dirty="0">
              <a:solidFill>
                <a:srgbClr val="0070C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66A77C-D5D5-5EB0-6D53-93980CBA82FA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E25B8-1BF6-2AA9-9635-F6C915566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C9BB4-54A5-CC5B-B222-806764A2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8BED386-93C3-8DFC-482A-81ABABA32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3109B-AE56-B977-4E9E-033B0DA491A5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IDEA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D5602F-1081-BF45-0162-D0961C4F90E7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1256F3D-59A6-EE0F-32F1-AC531F4E3B4A}"/>
              </a:ext>
            </a:extLst>
          </p:cNvPr>
          <p:cNvSpPr txBox="1"/>
          <p:nvPr/>
        </p:nvSpPr>
        <p:spPr>
          <a:xfrm>
            <a:off x="1090699" y="1200903"/>
            <a:ext cx="10010602" cy="4615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Goal: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Determine the worst-case time complexity, e.g., O(n), O(log n), etc.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Given :</a:t>
            </a:r>
            <a:br>
              <a:rPr lang="en-IN" dirty="0"/>
            </a:br>
            <a:r>
              <a:rPr lang="en-IN" b="1" dirty="0"/>
              <a:t>Python code snippets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Analyse Using: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Fine-tuned LLM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dirty="0"/>
              <a:t>Problem type: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Deterministic classification problem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2B5396-F61E-76F8-60F2-30CD18B30660}"/>
              </a:ext>
            </a:extLst>
          </p:cNvPr>
          <p:cNvCxnSpPr/>
          <p:nvPr/>
        </p:nvCxnSpPr>
        <p:spPr>
          <a:xfrm>
            <a:off x="0" y="6366288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91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3C17A-6EF0-2EC0-47D1-B063F30F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79E01-B509-08D3-49CF-E2A9F507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78237E4-DBBA-B526-6AF9-D115E6F7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B612C-DBE5-9655-A149-13F73EB0E812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DATASET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63C302-C2C3-AB05-5B72-B2C9DAE3E51E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17E735-0880-DB36-CA6D-282A2A8AB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909152"/>
              </p:ext>
            </p:extLst>
          </p:nvPr>
        </p:nvGraphicFramePr>
        <p:xfrm>
          <a:off x="2031997" y="1185389"/>
          <a:ext cx="8128000" cy="464626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446295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51873888"/>
                    </a:ext>
                  </a:extLst>
                </a:gridCol>
              </a:tblGrid>
              <a:tr h="41698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Label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055720"/>
                  </a:ext>
                </a:extLst>
              </a:tr>
              <a:tr h="571674">
                <a:tc>
                  <a:txBody>
                    <a:bodyPr/>
                    <a:lstStyle/>
                    <a:p>
                      <a:r>
                        <a:rPr lang="en-IN" dirty="0"/>
                        <a:t>Print(“Dataset”)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022077"/>
                  </a:ext>
                </a:extLst>
              </a:tr>
              <a:tr h="571674">
                <a:tc>
                  <a:txBody>
                    <a:bodyPr/>
                    <a:lstStyle/>
                    <a:p>
                      <a:r>
                        <a:rPr lang="en-IN" dirty="0"/>
                        <a:t>for 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 in range(n):</a:t>
                      </a:r>
                    </a:p>
                    <a:p>
                      <a:r>
                        <a:rPr lang="en-IN" dirty="0"/>
                        <a:t>     print(“Dataset”)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424289"/>
                  </a:ext>
                </a:extLst>
              </a:tr>
              <a:tr h="571674">
                <a:tc>
                  <a:txBody>
                    <a:bodyPr/>
                    <a:lstStyle/>
                    <a:p>
                      <a:r>
                        <a:rPr lang="en-IN" dirty="0"/>
                        <a:t>for 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 in range(n):</a:t>
                      </a:r>
                    </a:p>
                    <a:p>
                      <a:r>
                        <a:rPr lang="en-IN" dirty="0"/>
                        <a:t>      for j in range(n)</a:t>
                      </a:r>
                    </a:p>
                    <a:p>
                      <a:r>
                        <a:rPr lang="en-IN" dirty="0"/>
                        <a:t>            print(“Dataset”)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O(n^2)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625002"/>
                  </a:ext>
                </a:extLst>
              </a:tr>
              <a:tr h="571674">
                <a:tc>
                  <a:txBody>
                    <a:bodyPr/>
                    <a:lstStyle/>
                    <a:p>
                      <a:r>
                        <a:rPr lang="en-IN" dirty="0"/>
                        <a:t>for 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 in range(n):</a:t>
                      </a:r>
                    </a:p>
                    <a:p>
                      <a:r>
                        <a:rPr lang="en-IN" dirty="0"/>
                        <a:t>      for j in range(m)</a:t>
                      </a:r>
                    </a:p>
                    <a:p>
                      <a:r>
                        <a:rPr lang="en-IN" dirty="0"/>
                        <a:t>            print(“Dataset1”)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O(n*m)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286940"/>
                  </a:ext>
                </a:extLst>
              </a:tr>
              <a:tr h="57167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  <a:p>
                      <a:pPr algn="ctr"/>
                      <a:r>
                        <a:rPr lang="en-IN" dirty="0"/>
                        <a:t>.</a:t>
                      </a:r>
                    </a:p>
                    <a:p>
                      <a:pPr algn="ctr"/>
                      <a:r>
                        <a:rPr lang="en-IN" dirty="0"/>
                        <a:t>.</a:t>
                      </a:r>
                    </a:p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.</a:t>
                      </a:r>
                    </a:p>
                    <a:p>
                      <a:pPr algn="ctr"/>
                      <a:r>
                        <a:rPr lang="en-IN" dirty="0"/>
                        <a:t>.</a:t>
                      </a:r>
                    </a:p>
                    <a:p>
                      <a:pPr algn="ctr"/>
                      <a:r>
                        <a:rPr lang="en-IN" dirty="0"/>
                        <a:t>.</a:t>
                      </a:r>
                    </a:p>
                    <a:p>
                      <a:pPr algn="ctr"/>
                      <a:r>
                        <a:rPr lang="en-IN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684442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467D4F-29CA-B7CD-E366-23DA609AD6C0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18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1C46-F942-59DD-3EC9-CAEC7B62F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8C2C7-A14E-55F7-5726-EAE4875A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5A671EE-D7F7-6ADA-886D-C4E754895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58F1F-B2B1-4BDA-7F32-C169F168EB39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DATASET SIZE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43FB9A-06A0-5AB0-5738-0BFF0780C590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DAF928-637F-61D0-7B63-7CCE22948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620554"/>
              </p:ext>
            </p:extLst>
          </p:nvPr>
        </p:nvGraphicFramePr>
        <p:xfrm>
          <a:off x="2394854" y="926496"/>
          <a:ext cx="7402286" cy="518892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701143">
                  <a:extLst>
                    <a:ext uri="{9D8B030D-6E8A-4147-A177-3AD203B41FA5}">
                      <a16:colId xmlns:a16="http://schemas.microsoft.com/office/drawing/2014/main" val="1451873888"/>
                    </a:ext>
                  </a:extLst>
                </a:gridCol>
                <a:gridCol w="3701143">
                  <a:extLst>
                    <a:ext uri="{9D8B030D-6E8A-4147-A177-3AD203B41FA5}">
                      <a16:colId xmlns:a16="http://schemas.microsoft.com/office/drawing/2014/main" val="428593271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Label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Sample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0557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56288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42428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O(n^2)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625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O(n*m)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28694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O(log 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68444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 * log 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845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O(n^3)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684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O(2^n)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00906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n^m</a:t>
                      </a:r>
                      <a:r>
                        <a:rPr lang="en-IN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425984"/>
                  </a:ext>
                </a:extLst>
              </a:tr>
              <a:tr h="43692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O(n!)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9828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256027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D14016-D2E0-A2F4-A3A5-70D624644CD7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90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BDD3-3C8F-B79C-335D-C58E123C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A167D-BC87-DBCA-1A52-684C7C43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B960911-5DA5-3411-017A-362FD5A19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2BBC6-1F81-284B-EDFC-88EAC182BF84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Pre-trained Base LLM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F4E5DE-8103-2227-81E2-61B4065D4CAE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5C242F0-975A-5E56-AA7D-3B6702380617}"/>
              </a:ext>
            </a:extLst>
          </p:cNvPr>
          <p:cNvSpPr txBox="1"/>
          <p:nvPr/>
        </p:nvSpPr>
        <p:spPr>
          <a:xfrm>
            <a:off x="1350300" y="719790"/>
            <a:ext cx="10010602" cy="544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Base LLM: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https://huggingface.co/deepseek-ai/deepseek-coder-1.3b-instruct</a:t>
            </a:r>
            <a:endParaRPr lang="en-IN" b="1" dirty="0"/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System Used: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GPU RAM</a:t>
            </a:r>
            <a:r>
              <a:rPr lang="en-IN" dirty="0"/>
              <a:t>: 15 GB Google </a:t>
            </a:r>
            <a:r>
              <a:rPr lang="en-IN" dirty="0" err="1"/>
              <a:t>Colab</a:t>
            </a:r>
            <a:r>
              <a:rPr lang="en-IN" dirty="0"/>
              <a:t> T4/P100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CPU RAM: </a:t>
            </a:r>
            <a:r>
              <a:rPr lang="en-IN" b="0" i="0" dirty="0">
                <a:effectLst/>
                <a:latin typeface="+mj-lt"/>
              </a:rPr>
              <a:t>12.7 GB</a:t>
            </a:r>
            <a:endParaRPr lang="en-IN" b="1" dirty="0"/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DeepSeek-coder-1.3b-instruct: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Parameters: </a:t>
            </a:r>
            <a:r>
              <a:rPr lang="en-IN" b="1" dirty="0"/>
              <a:t>1.3 billion (</a:t>
            </a:r>
            <a:r>
              <a:rPr lang="en-IN" dirty="0"/>
              <a:t>Also available in </a:t>
            </a:r>
            <a:r>
              <a:rPr lang="en-IN" b="0" i="0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5.7B, 6.7B, and 33B parameters</a:t>
            </a:r>
            <a:r>
              <a:rPr lang="en-IN" b="1" dirty="0"/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Source Sans Pro" panose="020F0502020204030204" pitchFamily="34" charset="0"/>
              </a:rPr>
              <a:t>T</a:t>
            </a:r>
            <a:r>
              <a:rPr lang="en-US" b="0" i="0" dirty="0">
                <a:effectLst/>
                <a:latin typeface="Source Sans Pro" panose="020F0502020204030204" pitchFamily="34" charset="0"/>
              </a:rPr>
              <a:t>rained from scratch on 2T tokens</a:t>
            </a:r>
            <a:r>
              <a:rPr lang="en-US" b="0" i="0" dirty="0">
                <a:effectLst/>
                <a:latin typeface="Source Sans Pro" panose="020B0503030403020204" pitchFamily="34" charset="0"/>
              </a:rPr>
              <a:t>, composed of 87% code and 13% natural language in both English and Chinese.</a:t>
            </a:r>
            <a:endParaRPr lang="en-IN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Trained on multiple programming language code snippets.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+mj-lt"/>
              </a:rPr>
              <a:t>A window size of 16K.</a:t>
            </a:r>
            <a:endParaRPr lang="en-IN" dirty="0">
              <a:latin typeface="+mj-lt"/>
            </a:endParaRPr>
          </a:p>
        </p:txBody>
      </p:sp>
      <p:pic>
        <p:nvPicPr>
          <p:cNvPr id="1028" name="Picture 4" descr="DeepSeek Coder">
            <a:extLst>
              <a:ext uri="{FF2B5EF4-FFF2-40B4-BE49-F238E27FC236}">
                <a16:creationId xmlns:a16="http://schemas.microsoft.com/office/drawing/2014/main" id="{74D19095-139F-F0F4-905B-77421A805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605" y="719789"/>
            <a:ext cx="3310360" cy="55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9C80C6F-3D6C-7C6B-ED57-A7CDDB92C8C3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02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A882D-0C82-8532-9F80-0CBC539D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90CED-E5E7-FBE1-AEF1-24FDC32F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AC434B6-3103-9027-7367-5FBB520CE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F697A-1D75-66A1-67AE-2F6994301FCC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Key Challenges in Fine-tuning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8E7AFE-2935-2C8D-B2E2-0355BF09BBAF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3FB2FD-FC6B-285E-76B6-325DB1481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018021"/>
              </p:ext>
            </p:extLst>
          </p:nvPr>
        </p:nvGraphicFramePr>
        <p:xfrm>
          <a:off x="1558783" y="1325338"/>
          <a:ext cx="9074428" cy="291390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537214">
                  <a:extLst>
                    <a:ext uri="{9D8B030D-6E8A-4147-A177-3AD203B41FA5}">
                      <a16:colId xmlns:a16="http://schemas.microsoft.com/office/drawing/2014/main" val="1183759469"/>
                    </a:ext>
                  </a:extLst>
                </a:gridCol>
                <a:gridCol w="4537214">
                  <a:extLst>
                    <a:ext uri="{9D8B030D-6E8A-4147-A177-3AD203B41FA5}">
                      <a16:colId xmlns:a16="http://schemas.microsoft.com/office/drawing/2014/main" val="2922419346"/>
                    </a:ext>
                  </a:extLst>
                </a:gridCol>
              </a:tblGrid>
              <a:tr h="73311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Challenge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555273"/>
                  </a:ext>
                </a:extLst>
              </a:tr>
              <a:tr h="714567">
                <a:tc>
                  <a:txBody>
                    <a:bodyPr/>
                    <a:lstStyle/>
                    <a:p>
                      <a:r>
                        <a:rPr lang="en-US" dirty="0"/>
                        <a:t>1.3 B parameters won’t fit 15 GB at FP32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4‑bit quantization</a:t>
                      </a:r>
                      <a:r>
                        <a:rPr lang="en-IN" dirty="0"/>
                        <a:t> (NF4)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184312"/>
                  </a:ext>
                </a:extLst>
              </a:tr>
              <a:tr h="733112">
                <a:tc>
                  <a:txBody>
                    <a:bodyPr/>
                    <a:lstStyle/>
                    <a:p>
                      <a:r>
                        <a:rPr lang="en-US"/>
                        <a:t>Full‑model fine‑tuning too heavy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LoRA adapters</a:t>
                      </a:r>
                      <a:r>
                        <a:rPr lang="en-IN" dirty="0"/>
                        <a:t> (~0.2 M trainable)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3128039"/>
                  </a:ext>
                </a:extLst>
              </a:tr>
              <a:tr h="733112">
                <a:tc>
                  <a:txBody>
                    <a:bodyPr/>
                    <a:lstStyle/>
                    <a:p>
                      <a:r>
                        <a:rPr lang="en-IN" dirty="0"/>
                        <a:t>Large activation &amp; optimizer states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8‑bit Adam</a:t>
                      </a:r>
                      <a:r>
                        <a:rPr lang="en-US" dirty="0"/>
                        <a:t> + CPU offload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66358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5A77DC-C3C6-EA4A-A120-65007304BCCC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25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A1CB6-AB78-EC9A-18AC-ABD86A2A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9BC4A-FB48-A9DF-EEEC-AC87F25D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FA46F53-477F-FD44-A080-8EE7A18E7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6678F-0DF9-DD61-BDFB-8F9658CD5C9F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Environment Setup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32E926-5ADA-A18E-DE42-EFF7CA61018F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F0492C-707C-BADF-C3BF-31B8B4E2EDE8}"/>
              </a:ext>
            </a:extLst>
          </p:cNvPr>
          <p:cNvSpPr txBox="1"/>
          <p:nvPr/>
        </p:nvSpPr>
        <p:spPr>
          <a:xfrm>
            <a:off x="1643268" y="705966"/>
            <a:ext cx="8219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Dependencies: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BC526-DB3D-523C-6BAB-689020585367}"/>
              </a:ext>
            </a:extLst>
          </p:cNvPr>
          <p:cNvSpPr txBox="1"/>
          <p:nvPr/>
        </p:nvSpPr>
        <p:spPr>
          <a:xfrm>
            <a:off x="1732720" y="1248735"/>
            <a:ext cx="9024729" cy="26468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</a:p>
          <a:p>
            <a:endParaRPr lang="en-IN" sz="1100" dirty="0"/>
          </a:p>
          <a:p>
            <a:r>
              <a:rPr lang="en-IN" dirty="0"/>
              <a:t>pip install </a:t>
            </a:r>
          </a:p>
          <a:p>
            <a:pPr lvl="2"/>
            <a:r>
              <a:rPr lang="en-IN" b="1" dirty="0"/>
              <a:t>transformers </a:t>
            </a:r>
          </a:p>
          <a:p>
            <a:pPr lvl="2"/>
            <a:r>
              <a:rPr lang="en-IN" b="1" dirty="0"/>
              <a:t>datasets </a:t>
            </a:r>
          </a:p>
          <a:p>
            <a:pPr lvl="2"/>
            <a:r>
              <a:rPr lang="en-IN" b="1" dirty="0"/>
              <a:t>accelerate </a:t>
            </a:r>
          </a:p>
          <a:p>
            <a:pPr lvl="2"/>
            <a:r>
              <a:rPr lang="en-IN" b="1" dirty="0" err="1"/>
              <a:t>peft</a:t>
            </a:r>
            <a:r>
              <a:rPr lang="en-IN" b="1" dirty="0"/>
              <a:t> </a:t>
            </a:r>
          </a:p>
          <a:p>
            <a:pPr lvl="2"/>
            <a:r>
              <a:rPr lang="en-IN" b="1" dirty="0" err="1"/>
              <a:t>bitsandbytes</a:t>
            </a:r>
            <a:r>
              <a:rPr lang="en-IN" b="1" dirty="0"/>
              <a:t> </a:t>
            </a:r>
          </a:p>
          <a:p>
            <a:pPr lvl="2"/>
            <a:r>
              <a:rPr lang="en-IN" b="1" dirty="0" err="1"/>
              <a:t>fsspec</a:t>
            </a:r>
            <a:r>
              <a:rPr lang="en-IN" b="1" dirty="0"/>
              <a:t>==2025.3.2 </a:t>
            </a:r>
          </a:p>
          <a:p>
            <a:pPr lvl="2"/>
            <a:r>
              <a:rPr lang="en-IN" b="1" dirty="0" err="1"/>
              <a:t>huggingface_hub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D6FA8-B02D-0562-F7B9-0B0B1FC8697D}"/>
              </a:ext>
            </a:extLst>
          </p:cNvPr>
          <p:cNvSpPr txBox="1"/>
          <p:nvPr/>
        </p:nvSpPr>
        <p:spPr>
          <a:xfrm>
            <a:off x="1643268" y="4162099"/>
            <a:ext cx="61225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Versions:</a:t>
            </a:r>
          </a:p>
          <a:p>
            <a:pPr>
              <a:buNone/>
            </a:pPr>
            <a:endParaRPr lang="en-IN" dirty="0"/>
          </a:p>
          <a:p>
            <a:r>
              <a:rPr lang="en-IN" i="1" dirty="0"/>
              <a:t>PyTorch </a:t>
            </a:r>
            <a:r>
              <a:rPr lang="en-IN" i="1" dirty="0">
                <a:sym typeface="Wingdings" panose="05000000000000000000" pitchFamily="2" charset="2"/>
              </a:rPr>
              <a:t> </a:t>
            </a:r>
            <a:r>
              <a:rPr lang="en-IN" i="1" dirty="0"/>
              <a:t>2.1</a:t>
            </a:r>
          </a:p>
          <a:p>
            <a:r>
              <a:rPr lang="en-IN" i="1" dirty="0"/>
              <a:t>Transformers </a:t>
            </a:r>
            <a:r>
              <a:rPr lang="en-IN" i="1" dirty="0">
                <a:sym typeface="Wingdings" panose="05000000000000000000" pitchFamily="2" charset="2"/>
              </a:rPr>
              <a:t> </a:t>
            </a:r>
            <a:r>
              <a:rPr lang="en-IN" i="1" dirty="0"/>
              <a:t>4.34</a:t>
            </a:r>
          </a:p>
          <a:p>
            <a:r>
              <a:rPr lang="en-IN" i="1" dirty="0"/>
              <a:t>PEFT </a:t>
            </a:r>
            <a:r>
              <a:rPr lang="en-IN" i="1" dirty="0">
                <a:sym typeface="Wingdings" panose="05000000000000000000" pitchFamily="2" charset="2"/>
              </a:rPr>
              <a:t> </a:t>
            </a:r>
            <a:r>
              <a:rPr lang="en-IN" i="1" dirty="0"/>
              <a:t>0.3</a:t>
            </a:r>
          </a:p>
          <a:p>
            <a:r>
              <a:rPr lang="en-IN" i="1" dirty="0" err="1"/>
              <a:t>BitsAndBytes</a:t>
            </a:r>
            <a:r>
              <a:rPr lang="en-IN" i="1" dirty="0"/>
              <a:t> </a:t>
            </a:r>
            <a:r>
              <a:rPr lang="en-IN" i="1" dirty="0">
                <a:sym typeface="Wingdings" panose="05000000000000000000" pitchFamily="2" charset="2"/>
              </a:rPr>
              <a:t></a:t>
            </a:r>
            <a:r>
              <a:rPr lang="en-IN" i="1" dirty="0"/>
              <a:t> 0.41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76534C-E6BF-3662-78AD-24B1B739A9DC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46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AB499-746C-0666-6F1E-00846BB1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19478-24EF-C2B2-5288-299CB4A9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54F1A21-DEB4-A347-289D-025B03700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6CA6B-8C04-11D1-38E1-769D4FFCDA4C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Model Quantization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B7E02-395A-57BF-0255-BE48C9963999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3378796-BF8E-5904-19FA-D1E5770255D6}"/>
              </a:ext>
            </a:extLst>
          </p:cNvPr>
          <p:cNvSpPr txBox="1"/>
          <p:nvPr/>
        </p:nvSpPr>
        <p:spPr>
          <a:xfrm>
            <a:off x="1643268" y="705966"/>
            <a:ext cx="8219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Configuration: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2B3D27-E042-0933-6C5A-D926E73A54F3}"/>
              </a:ext>
            </a:extLst>
          </p:cNvPr>
          <p:cNvSpPr txBox="1"/>
          <p:nvPr/>
        </p:nvSpPr>
        <p:spPr>
          <a:xfrm>
            <a:off x="1742659" y="1229269"/>
            <a:ext cx="9024729" cy="26468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</a:p>
          <a:p>
            <a:endParaRPr lang="en-IN" sz="1100" dirty="0"/>
          </a:p>
          <a:p>
            <a:r>
              <a:rPr lang="en-IN" dirty="0"/>
              <a:t>BitsAndBytesConfig(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  </a:t>
            </a:r>
            <a:r>
              <a:rPr lang="en-IN" b="1" dirty="0"/>
              <a:t>load_in_4bit = </a:t>
            </a:r>
            <a:r>
              <a:rPr lang="en-IN" b="1" dirty="0">
                <a:solidFill>
                  <a:srgbClr val="0070C0"/>
                </a:solidFill>
              </a:rPr>
              <a:t>True</a:t>
            </a:r>
            <a:r>
              <a:rPr lang="en-IN" b="1" dirty="0"/>
              <a:t>,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  bnb_4bit_quant_type = </a:t>
            </a:r>
            <a:r>
              <a:rPr lang="en-IN" b="1" dirty="0">
                <a:solidFill>
                  <a:srgbClr val="0070C0"/>
                </a:solidFill>
              </a:rPr>
              <a:t>"nf4"</a:t>
            </a:r>
            <a:r>
              <a:rPr lang="en-IN" b="1" dirty="0"/>
              <a:t>,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  bnb_4bit_compute_dtype = </a:t>
            </a:r>
            <a:r>
              <a:rPr lang="en-IN" b="1" dirty="0">
                <a:solidFill>
                  <a:srgbClr val="0070C0"/>
                </a:solidFill>
              </a:rPr>
              <a:t>torch.float16</a:t>
            </a:r>
            <a:r>
              <a:rPr lang="en-IN" b="1" dirty="0"/>
              <a:t>,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  bnb_4bit_use_double_quant = </a:t>
            </a:r>
            <a:r>
              <a:rPr lang="en-IN" b="1" dirty="0">
                <a:solidFill>
                  <a:srgbClr val="0070C0"/>
                </a:solidFill>
              </a:rPr>
              <a:t>True</a:t>
            </a:r>
          </a:p>
          <a:p>
            <a:r>
              <a:rPr lang="en-IN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E5357-7DBC-27AD-4E68-B9EF07118238}"/>
              </a:ext>
            </a:extLst>
          </p:cNvPr>
          <p:cNvSpPr txBox="1"/>
          <p:nvPr/>
        </p:nvSpPr>
        <p:spPr>
          <a:xfrm>
            <a:off x="1643268" y="4191916"/>
            <a:ext cx="6122504" cy="115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Outcome: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Base model size ↓ from </a:t>
            </a:r>
            <a:r>
              <a:rPr lang="en-IN" b="1" dirty="0"/>
              <a:t>~5 GB → ~1.3 GB </a:t>
            </a:r>
            <a:r>
              <a:rPr lang="en-IN" dirty="0"/>
              <a:t>on GPU</a:t>
            </a:r>
          </a:p>
          <a:p>
            <a:pPr>
              <a:lnSpc>
                <a:spcPct val="150000"/>
              </a:lnSpc>
            </a:pPr>
            <a:r>
              <a:rPr lang="en-IN" dirty="0"/>
              <a:t>VRAM usage for weights ≈</a:t>
            </a:r>
            <a:r>
              <a:rPr lang="en-IN" b="1" dirty="0"/>
              <a:t> 2.6 GB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7835F7-71D6-9FE6-8413-CE3E261FD49A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23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9F732-39BD-D6C5-BA28-06CDAF5E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F2878-E0F9-54B2-A495-CE239C49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9860FB7-C29F-3150-677F-3278D175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1E5E5-0E52-81DD-E444-98DB657434E7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LoRA Adapter Injection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CD82D1-6650-0D79-1A22-7EB1F9924137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60E881-384D-E3D1-593C-D9FF9B3A41F6}"/>
              </a:ext>
            </a:extLst>
          </p:cNvPr>
          <p:cNvSpPr txBox="1"/>
          <p:nvPr/>
        </p:nvSpPr>
        <p:spPr>
          <a:xfrm>
            <a:off x="1411911" y="705978"/>
            <a:ext cx="9455215" cy="54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Low-Rank Adaptation (</a:t>
            </a:r>
            <a:r>
              <a:rPr lang="en-IN" b="1" i="0" dirty="0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LoRA</a:t>
            </a:r>
            <a:r>
              <a:rPr lang="en-IN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): </a:t>
            </a:r>
            <a:r>
              <a:rPr lang="en-US" b="0" i="0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LoRA works by freezing the original weights and parameters of the model and adding lightweight, changeable parts called low-rank matrices. 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LoRA hyperparameters: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j-lt"/>
              </a:rPr>
              <a:t>Rank r=16 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(Rank of Weight matrix)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0070C0"/>
                </a:solidFill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j-lt"/>
              </a:rPr>
              <a:t>α=32 	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(Scaling Factor)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0070C0"/>
                </a:solidFill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j-lt"/>
              </a:rPr>
              <a:t>dropout=0.05 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(Regularization Method)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Target modules:</a:t>
            </a:r>
            <a:endParaRPr lang="en-US" altLang="en-US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+mj-lt"/>
              </a:rPr>
              <a:t>q_proj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j-lt"/>
              </a:rPr>
              <a:t> 	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(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Attention layers which will be fine-tuned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rgbClr val="0070C0"/>
                </a:solidFill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+mj-lt"/>
              </a:rPr>
              <a:t>v_proj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Trainable params: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j-lt"/>
              </a:rPr>
              <a:t>~0.2 million (0.015 % of total)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Memory cost: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j-lt"/>
              </a:rPr>
              <a:t>+300 MB VRAM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2012D3-8606-FAFF-7F86-6F99FCF42A2D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562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CED7-D273-455F-CDB5-47E1D53C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06ADF-B856-425A-EEF8-5F0BEFA1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ABB4000-C489-1C33-CBC5-57402790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1EE1C-D7FA-6216-0BA8-ED54CDAB3220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Data Formatting &amp; Tokenization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95229E-9494-E950-F137-EF42A067B2D0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AF4A71-4EB2-0A70-0B63-D70C6BE86615}"/>
              </a:ext>
            </a:extLst>
          </p:cNvPr>
          <p:cNvSpPr txBox="1"/>
          <p:nvPr/>
        </p:nvSpPr>
        <p:spPr>
          <a:xfrm>
            <a:off x="1302581" y="711735"/>
            <a:ext cx="9455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Prompt template: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92ADF-DB5E-D806-042E-53218C073AE5}"/>
              </a:ext>
            </a:extLst>
          </p:cNvPr>
          <p:cNvSpPr txBox="1"/>
          <p:nvPr/>
        </p:nvSpPr>
        <p:spPr>
          <a:xfrm>
            <a:off x="1348621" y="1361914"/>
            <a:ext cx="9409175" cy="20465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</a:p>
          <a:p>
            <a:endParaRPr lang="en-IN" sz="11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111111"/>
                </a:solidFill>
                <a:effectLst/>
                <a:latin typeface="+mj-lt"/>
              </a:rPr>
              <a:t>### Instruction: what is the worst-case time complexity of this Python code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111111"/>
                </a:solidFill>
                <a:effectLst/>
                <a:latin typeface="+mj-lt"/>
              </a:rPr>
              <a:t>### &lt;code&gt;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111111"/>
                </a:solidFill>
                <a:effectLst/>
                <a:latin typeface="+mj-lt"/>
              </a:rPr>
              <a:t>### &lt;auto‑metrics&gt;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111111"/>
                </a:solidFill>
                <a:effectLst/>
                <a:latin typeface="+mj-lt"/>
              </a:rPr>
              <a:t>### Response: </a:t>
            </a:r>
            <a:r>
              <a:rPr lang="en-US" i="0" dirty="0" err="1">
                <a:solidFill>
                  <a:srgbClr val="111111"/>
                </a:solidFill>
                <a:effectLst/>
                <a:latin typeface="+mj-lt"/>
              </a:rPr>
              <a:t>eg.</a:t>
            </a:r>
            <a:r>
              <a:rPr lang="en-US" i="0" dirty="0">
                <a:solidFill>
                  <a:srgbClr val="111111"/>
                </a:solidFill>
                <a:effectLst/>
                <a:latin typeface="+mj-lt"/>
              </a:rPr>
              <a:t> O(n)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F8478-4CB4-5BD2-6B07-13375EE01029}"/>
              </a:ext>
            </a:extLst>
          </p:cNvPr>
          <p:cNvSpPr txBox="1"/>
          <p:nvPr/>
        </p:nvSpPr>
        <p:spPr>
          <a:xfrm>
            <a:off x="1348620" y="3701716"/>
            <a:ext cx="9409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Metrics auto‑extracted: Using Python AST library </a:t>
            </a:r>
          </a:p>
          <a:p>
            <a:r>
              <a:rPr lang="en-US" dirty="0">
                <a:solidFill>
                  <a:srgbClr val="0070C0"/>
                </a:solidFill>
              </a:rPr>
              <a:t>loop‐count</a:t>
            </a:r>
          </a:p>
          <a:p>
            <a:r>
              <a:rPr lang="en-US" dirty="0">
                <a:solidFill>
                  <a:srgbClr val="0070C0"/>
                </a:solidFill>
              </a:rPr>
              <a:t>max‐depth</a:t>
            </a:r>
          </a:p>
          <a:p>
            <a:r>
              <a:rPr lang="en-US" dirty="0">
                <a:solidFill>
                  <a:srgbClr val="0070C0"/>
                </a:solidFill>
              </a:rPr>
              <a:t>recursive calls</a:t>
            </a:r>
          </a:p>
          <a:p>
            <a:endParaRPr lang="en-US" dirty="0"/>
          </a:p>
          <a:p>
            <a:r>
              <a:rPr lang="en-US" b="1" dirty="0"/>
              <a:t>Tokenization: </a:t>
            </a:r>
          </a:p>
          <a:p>
            <a:r>
              <a:rPr lang="en-US" dirty="0">
                <a:solidFill>
                  <a:srgbClr val="0070C0"/>
                </a:solidFill>
              </a:rPr>
              <a:t>pad/truncate to 512 tokens</a:t>
            </a:r>
          </a:p>
          <a:p>
            <a:r>
              <a:rPr lang="en-US" dirty="0">
                <a:solidFill>
                  <a:srgbClr val="0070C0"/>
                </a:solidFill>
              </a:rPr>
              <a:t>Return PyTorch tensors</a:t>
            </a:r>
            <a:endParaRPr lang="en-IN" dirty="0">
              <a:solidFill>
                <a:srgbClr val="0070C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69C4F9-2C50-50B3-0898-05ACC9A83878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6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D9AC-C4AA-DA5C-EF27-A962A79E5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954D2-56E2-0A05-606D-3936FFED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68DFCD8-C486-198F-35D8-97B48F23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8CBA0-5382-1277-F2D0-7DA4CC6E17F0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Auto-metrics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C78DA3-DE54-D15C-BB7F-A22A4BE0B89F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612D38-14A0-8961-576E-FBA2187970D5}"/>
              </a:ext>
            </a:extLst>
          </p:cNvPr>
          <p:cNvSpPr txBox="1"/>
          <p:nvPr/>
        </p:nvSpPr>
        <p:spPr>
          <a:xfrm>
            <a:off x="1302580" y="1078368"/>
            <a:ext cx="4376317" cy="153888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</a:p>
          <a:p>
            <a:endParaRPr lang="en-IN" sz="1100" dirty="0"/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for </a:t>
            </a:r>
            <a:r>
              <a:rPr lang="en-US" i="0" dirty="0" err="1">
                <a:solidFill>
                  <a:srgbClr val="0070C0"/>
                </a:solidFill>
                <a:effectLst/>
                <a:latin typeface="+mj-lt"/>
              </a:rPr>
              <a:t>i</a:t>
            </a: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 in range(n):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      print(“Manish”)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      for i in range(n):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	print(“Malviya”)</a:t>
            </a:r>
            <a:endParaRPr lang="en-US" i="0" dirty="0">
              <a:solidFill>
                <a:srgbClr val="111111"/>
              </a:solidFill>
              <a:effectLst/>
              <a:latin typeface="+mj-lt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2044BD-BB81-549F-7BEF-4792A084975D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1A27334-7112-9E5D-A737-E1CD4863ED51}"/>
              </a:ext>
            </a:extLst>
          </p:cNvPr>
          <p:cNvSpPr txBox="1"/>
          <p:nvPr/>
        </p:nvSpPr>
        <p:spPr>
          <a:xfrm>
            <a:off x="6095997" y="1062415"/>
            <a:ext cx="4506083" cy="153888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</a:p>
          <a:p>
            <a:endParaRPr lang="en-IN" sz="1100" dirty="0"/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for </a:t>
            </a:r>
            <a:r>
              <a:rPr lang="en-US" i="0" dirty="0" err="1">
                <a:solidFill>
                  <a:srgbClr val="0070C0"/>
                </a:solidFill>
                <a:effectLst/>
                <a:latin typeface="+mj-lt"/>
              </a:rPr>
              <a:t>i</a:t>
            </a: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 in range(n):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      print(“Manish”)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for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i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in range(n):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       </a:t>
            </a: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print(“Malviya”)</a:t>
            </a:r>
            <a:endParaRPr lang="en-US" i="0" dirty="0">
              <a:solidFill>
                <a:srgbClr val="11111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B4DEE-4D6A-8DA3-6C8F-B837BED08BA4}"/>
              </a:ext>
            </a:extLst>
          </p:cNvPr>
          <p:cNvSpPr txBox="1"/>
          <p:nvPr/>
        </p:nvSpPr>
        <p:spPr>
          <a:xfrm>
            <a:off x="1302581" y="547470"/>
            <a:ext cx="9455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Case 1: 					     Case 2: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21E39-2ED1-C29C-6702-7C73E59A4ACB}"/>
              </a:ext>
            </a:extLst>
          </p:cNvPr>
          <p:cNvSpPr txBox="1"/>
          <p:nvPr/>
        </p:nvSpPr>
        <p:spPr>
          <a:xfrm>
            <a:off x="1249230" y="2617087"/>
            <a:ext cx="9299499" cy="120032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IN" dirty="0"/>
              <a:t>Complexity: </a:t>
            </a:r>
          </a:p>
          <a:p>
            <a:r>
              <a:rPr lang="en-IN" b="1" dirty="0">
                <a:solidFill>
                  <a:srgbClr val="0070C0"/>
                </a:solidFill>
              </a:rPr>
              <a:t>	O(n^2)			</a:t>
            </a:r>
            <a:endParaRPr lang="en-IN" dirty="0"/>
          </a:p>
          <a:p>
            <a:endParaRPr lang="en-IN" dirty="0"/>
          </a:p>
          <a:p>
            <a:r>
              <a:rPr lang="en-IN" dirty="0"/>
              <a:t>After Tokenization:</a:t>
            </a:r>
          </a:p>
          <a:p>
            <a:endParaRPr lang="en-IN" dirty="0"/>
          </a:p>
          <a:p>
            <a:r>
              <a:rPr lang="en-IN" b="1" dirty="0">
                <a:solidFill>
                  <a:srgbClr val="0070C0"/>
                </a:solidFill>
              </a:rPr>
              <a:t>	O(n)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2BC0A3A-C3F4-D375-FBBA-092C78590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507339"/>
              </p:ext>
            </p:extLst>
          </p:nvPr>
        </p:nvGraphicFramePr>
        <p:xfrm>
          <a:off x="1302581" y="3955316"/>
          <a:ext cx="43763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079">
                  <a:extLst>
                    <a:ext uri="{9D8B030D-6E8A-4147-A177-3AD203B41FA5}">
                      <a16:colId xmlns:a16="http://schemas.microsoft.com/office/drawing/2014/main" val="2502749034"/>
                    </a:ext>
                  </a:extLst>
                </a:gridCol>
                <a:gridCol w="1094079">
                  <a:extLst>
                    <a:ext uri="{9D8B030D-6E8A-4147-A177-3AD203B41FA5}">
                      <a16:colId xmlns:a16="http://schemas.microsoft.com/office/drawing/2014/main" val="2557052030"/>
                    </a:ext>
                  </a:extLst>
                </a:gridCol>
                <a:gridCol w="1094079">
                  <a:extLst>
                    <a:ext uri="{9D8B030D-6E8A-4147-A177-3AD203B41FA5}">
                      <a16:colId xmlns:a16="http://schemas.microsoft.com/office/drawing/2014/main" val="429611160"/>
                    </a:ext>
                  </a:extLst>
                </a:gridCol>
                <a:gridCol w="1094079">
                  <a:extLst>
                    <a:ext uri="{9D8B030D-6E8A-4147-A177-3AD203B41FA5}">
                      <a16:colId xmlns:a16="http://schemas.microsoft.com/office/drawing/2014/main" val="2801718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6093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68F696E-FAB2-93F7-9312-0D0D19BA2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01774"/>
              </p:ext>
            </p:extLst>
          </p:nvPr>
        </p:nvGraphicFramePr>
        <p:xfrm>
          <a:off x="6095996" y="3949365"/>
          <a:ext cx="45060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521">
                  <a:extLst>
                    <a:ext uri="{9D8B030D-6E8A-4147-A177-3AD203B41FA5}">
                      <a16:colId xmlns:a16="http://schemas.microsoft.com/office/drawing/2014/main" val="2502749034"/>
                    </a:ext>
                  </a:extLst>
                </a:gridCol>
                <a:gridCol w="1126521">
                  <a:extLst>
                    <a:ext uri="{9D8B030D-6E8A-4147-A177-3AD203B41FA5}">
                      <a16:colId xmlns:a16="http://schemas.microsoft.com/office/drawing/2014/main" val="2557052030"/>
                    </a:ext>
                  </a:extLst>
                </a:gridCol>
                <a:gridCol w="1126521">
                  <a:extLst>
                    <a:ext uri="{9D8B030D-6E8A-4147-A177-3AD203B41FA5}">
                      <a16:colId xmlns:a16="http://schemas.microsoft.com/office/drawing/2014/main" val="429611160"/>
                    </a:ext>
                  </a:extLst>
                </a:gridCol>
                <a:gridCol w="1126521">
                  <a:extLst>
                    <a:ext uri="{9D8B030D-6E8A-4147-A177-3AD203B41FA5}">
                      <a16:colId xmlns:a16="http://schemas.microsoft.com/office/drawing/2014/main" val="2801718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60934"/>
                  </a:ext>
                </a:extLst>
              </a:tr>
            </a:tbl>
          </a:graphicData>
        </a:graphic>
      </p:graphicFrame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4A5746C-832B-F444-63E7-615F8B8F3359}"/>
              </a:ext>
            </a:extLst>
          </p:cNvPr>
          <p:cNvCxnSpPr>
            <a:cxnSpLocks/>
          </p:cNvCxnSpPr>
          <p:nvPr/>
        </p:nvCxnSpPr>
        <p:spPr>
          <a:xfrm>
            <a:off x="2961861" y="4320205"/>
            <a:ext cx="1669774" cy="1205952"/>
          </a:xfrm>
          <a:prstGeom prst="bentConnector3">
            <a:avLst>
              <a:gd name="adj1" fmla="val -5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2FC5FD2-2E6F-9CD3-171C-077E2E2AAA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87010" y="4320205"/>
            <a:ext cx="2385393" cy="1205952"/>
          </a:xfrm>
          <a:prstGeom prst="bentConnector3">
            <a:avLst>
              <a:gd name="adj1" fmla="val -83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BE67EA6-D23E-3003-8E8C-936F3CD13135}"/>
              </a:ext>
            </a:extLst>
          </p:cNvPr>
          <p:cNvSpPr txBox="1"/>
          <p:nvPr/>
        </p:nvSpPr>
        <p:spPr>
          <a:xfrm>
            <a:off x="4631635" y="5337879"/>
            <a:ext cx="75537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Same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81D4AE2-8757-B5AA-4A7C-74A71D28FEA1}"/>
              </a:ext>
            </a:extLst>
          </p:cNvPr>
          <p:cNvCxnSpPr>
            <a:cxnSpLocks/>
          </p:cNvCxnSpPr>
          <p:nvPr/>
        </p:nvCxnSpPr>
        <p:spPr>
          <a:xfrm>
            <a:off x="5135219" y="4311766"/>
            <a:ext cx="3969024" cy="834238"/>
          </a:xfrm>
          <a:prstGeom prst="bentConnector3">
            <a:avLst>
              <a:gd name="adj1" fmla="val -58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4C4E84D-55E7-824C-C4FF-53E564C5C26C}"/>
              </a:ext>
            </a:extLst>
          </p:cNvPr>
          <p:cNvCxnSpPr>
            <a:cxnSpLocks/>
            <a:endCxn id="35" idx="0"/>
          </p:cNvCxnSpPr>
          <p:nvPr/>
        </p:nvCxnSpPr>
        <p:spPr>
          <a:xfrm rot="5400000">
            <a:off x="9472351" y="4401033"/>
            <a:ext cx="648818" cy="4702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438BE25-E76C-C320-97E8-00609B2A4911}"/>
              </a:ext>
            </a:extLst>
          </p:cNvPr>
          <p:cNvSpPr txBox="1"/>
          <p:nvPr/>
        </p:nvSpPr>
        <p:spPr>
          <a:xfrm>
            <a:off x="9183930" y="4960584"/>
            <a:ext cx="755374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Same</a:t>
            </a:r>
          </a:p>
        </p:txBody>
      </p:sp>
    </p:spTree>
    <p:extLst>
      <p:ext uri="{BB962C8B-B14F-4D97-AF65-F5344CB8AC3E}">
        <p14:creationId xmlns:p14="http://schemas.microsoft.com/office/powerpoint/2010/main" val="256425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53D2E-0EF2-97F9-C3F6-3745A1B1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roduction to Abstract Syntax Trees in Python - Earthly Blog">
            <a:extLst>
              <a:ext uri="{FF2B5EF4-FFF2-40B4-BE49-F238E27FC236}">
                <a16:creationId xmlns:a16="http://schemas.microsoft.com/office/drawing/2014/main" id="{4335BB0B-66B7-F78B-5B82-DC147B3D8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318" y="3112451"/>
            <a:ext cx="3501358" cy="326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B9DA8-B192-73C6-CE21-625C8285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DD71BC0-EEE0-E308-C89B-DF2F96FA4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641ED-EC1C-E5DE-59BF-6FDDA25473B2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Auto-metrics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98F9A9-831E-BE2B-5A4C-9696F18C7691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49DECCF-92F1-454B-0412-4A4ACC23B82C}"/>
              </a:ext>
            </a:extLst>
          </p:cNvPr>
          <p:cNvSpPr txBox="1"/>
          <p:nvPr/>
        </p:nvSpPr>
        <p:spPr>
          <a:xfrm>
            <a:off x="1302580" y="1078368"/>
            <a:ext cx="4376317" cy="153888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</a:p>
          <a:p>
            <a:endParaRPr lang="en-IN" sz="1100" dirty="0"/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for </a:t>
            </a:r>
            <a:r>
              <a:rPr lang="en-US" i="0" dirty="0" err="1">
                <a:solidFill>
                  <a:srgbClr val="0070C0"/>
                </a:solidFill>
                <a:effectLst/>
                <a:latin typeface="+mj-lt"/>
              </a:rPr>
              <a:t>i</a:t>
            </a: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 in range(n):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      print(“Manish”)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      for i in range(n):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	print(“Malviya”)</a:t>
            </a:r>
            <a:endParaRPr lang="en-US" i="0" dirty="0">
              <a:solidFill>
                <a:srgbClr val="111111"/>
              </a:solidFill>
              <a:effectLst/>
              <a:latin typeface="+mj-lt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0E1D02-F379-C3E4-CC00-68370DDD3A54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87A4603-F808-23DE-D498-D5643A9BE77D}"/>
              </a:ext>
            </a:extLst>
          </p:cNvPr>
          <p:cNvSpPr txBox="1"/>
          <p:nvPr/>
        </p:nvSpPr>
        <p:spPr>
          <a:xfrm>
            <a:off x="6095997" y="1062415"/>
            <a:ext cx="4506083" cy="153888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</a:p>
          <a:p>
            <a:endParaRPr lang="en-IN" sz="1100" dirty="0"/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for </a:t>
            </a:r>
            <a:r>
              <a:rPr lang="en-US" i="0" dirty="0" err="1">
                <a:solidFill>
                  <a:srgbClr val="0070C0"/>
                </a:solidFill>
                <a:effectLst/>
                <a:latin typeface="+mj-lt"/>
              </a:rPr>
              <a:t>i</a:t>
            </a: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 in range(n):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      print(“Manish”)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for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i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in range(n):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>
                <a:solidFill>
                  <a:srgbClr val="0070C0"/>
                </a:solidFill>
                <a:latin typeface="+mj-lt"/>
              </a:rPr>
              <a:t>       </a:t>
            </a:r>
            <a:r>
              <a:rPr lang="en-US" i="0" dirty="0">
                <a:solidFill>
                  <a:srgbClr val="0070C0"/>
                </a:solidFill>
                <a:effectLst/>
                <a:latin typeface="+mj-lt"/>
              </a:rPr>
              <a:t>print(“Malviya”)</a:t>
            </a:r>
            <a:endParaRPr lang="en-US" i="0" dirty="0">
              <a:solidFill>
                <a:srgbClr val="111111"/>
              </a:solidFill>
              <a:effectLst/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2BD3E-C40B-2D89-C169-0742896442FB}"/>
              </a:ext>
            </a:extLst>
          </p:cNvPr>
          <p:cNvSpPr txBox="1"/>
          <p:nvPr/>
        </p:nvSpPr>
        <p:spPr>
          <a:xfrm>
            <a:off x="1302581" y="547470"/>
            <a:ext cx="9455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Case 1: 					     Case 2: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0E501-2657-59C6-894E-E36DBD0ED740}"/>
              </a:ext>
            </a:extLst>
          </p:cNvPr>
          <p:cNvSpPr txBox="1"/>
          <p:nvPr/>
        </p:nvSpPr>
        <p:spPr>
          <a:xfrm>
            <a:off x="1302580" y="2839619"/>
            <a:ext cx="9299499" cy="170745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</a:rPr>
              <a:t>	Loop count: </a:t>
            </a:r>
            <a:r>
              <a:rPr lang="en-IN" dirty="0"/>
              <a:t>2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</a:rPr>
              <a:t>	Max-Depth: </a:t>
            </a:r>
            <a:r>
              <a:rPr lang="en-IN" b="1" dirty="0"/>
              <a:t>2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</a:rPr>
              <a:t>	Recursive Calls: </a:t>
            </a:r>
            <a:r>
              <a:rPr lang="en-IN" dirty="0"/>
              <a:t>0</a:t>
            </a:r>
            <a:endParaRPr lang="en-IN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</a:rPr>
              <a:t>	Loop count: </a:t>
            </a:r>
            <a:r>
              <a:rPr lang="en-IN" dirty="0"/>
              <a:t>2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</a:rPr>
              <a:t>	Max-Depth:</a:t>
            </a:r>
            <a:r>
              <a:rPr lang="en-IN" b="1" dirty="0"/>
              <a:t> 1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</a:rPr>
              <a:t>	Recursive Calls: </a:t>
            </a:r>
            <a:r>
              <a:rPr lang="en-IN" dirty="0"/>
              <a:t>0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C5C3A3-CB03-FCA1-EED7-E57C4CF2043C}"/>
              </a:ext>
            </a:extLst>
          </p:cNvPr>
          <p:cNvSpPr txBox="1"/>
          <p:nvPr/>
        </p:nvSpPr>
        <p:spPr>
          <a:xfrm>
            <a:off x="2425700" y="5614966"/>
            <a:ext cx="2454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Python AST</a:t>
            </a:r>
          </a:p>
          <a:p>
            <a:r>
              <a:rPr lang="en-IN" dirty="0"/>
              <a:t>(Abstract Syntax Tree)</a:t>
            </a:r>
          </a:p>
        </p:txBody>
      </p:sp>
    </p:spTree>
    <p:extLst>
      <p:ext uri="{BB962C8B-B14F-4D97-AF65-F5344CB8AC3E}">
        <p14:creationId xmlns:p14="http://schemas.microsoft.com/office/powerpoint/2010/main" val="96200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1AC53-2C79-DC50-2996-5AFDBB99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2F615-93F8-2D07-F9F8-B15C5E0B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A251463-2EC3-1F7E-B848-2EF7158D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79BC8-A4D0-8A0B-3FBB-0E37A9334005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Training Configuration &amp; training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4468A5-4D9B-C94F-7CA5-F89E57184B2D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1B33A1-6C70-90E1-E35A-43ED013E0B7B}"/>
              </a:ext>
            </a:extLst>
          </p:cNvPr>
          <p:cNvSpPr txBox="1"/>
          <p:nvPr/>
        </p:nvSpPr>
        <p:spPr>
          <a:xfrm>
            <a:off x="1368389" y="700959"/>
            <a:ext cx="9455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Trainer Arguments: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53BB0-7DD5-A3E7-83FF-34EFBFD2D8BC}"/>
              </a:ext>
            </a:extLst>
          </p:cNvPr>
          <p:cNvSpPr txBox="1"/>
          <p:nvPr/>
        </p:nvSpPr>
        <p:spPr>
          <a:xfrm>
            <a:off x="1457951" y="1197278"/>
            <a:ext cx="9409175" cy="48404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</a:p>
          <a:p>
            <a:endParaRPr lang="en-IN" sz="1050" dirty="0">
              <a:latin typeface="+mj-lt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training_args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TrainingArguments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output_dir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"/content/drive/</a:t>
            </a:r>
            <a:r>
              <a:rPr lang="en-IN" sz="1600" b="0" dirty="0" err="1">
                <a:solidFill>
                  <a:srgbClr val="0070C0"/>
                </a:solidFill>
                <a:effectLst/>
                <a:latin typeface="+mj-lt"/>
              </a:rPr>
              <a:t>MyDrive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/deepseek-complexity-1.3b",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num_train_epochs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5,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per_device_train_batch_size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2,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gradient_accumulation_steps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4,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learning_rate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2e-4,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fp16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True,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save_strategy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"no",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logging_steps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10,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optim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"paged_adamw_8bit",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   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report_to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IN" sz="1600" b="0" dirty="0">
                <a:solidFill>
                  <a:srgbClr val="0070C0"/>
                </a:solidFill>
                <a:effectLst/>
                <a:latin typeface="+mj-lt"/>
              </a:rPr>
              <a:t>"none"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endParaRPr lang="en-IN" sz="1600" dirty="0">
              <a:solidFill>
                <a:srgbClr val="000000"/>
              </a:solidFill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en-IN" sz="1600" dirty="0" err="1">
                <a:solidFill>
                  <a:srgbClr val="000000"/>
                </a:solidFill>
                <a:latin typeface="+mj-lt"/>
              </a:rPr>
              <a:t>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+mj-lt"/>
              </a:rPr>
              <a:t>rainer.train</a:t>
            </a:r>
            <a:r>
              <a:rPr lang="en-IN" sz="1600" b="0" dirty="0">
                <a:solidFill>
                  <a:srgbClr val="000000"/>
                </a:solidFill>
                <a:effectLst/>
                <a:latin typeface="+mj-lt"/>
              </a:rPr>
              <a:t>()				</a:t>
            </a:r>
            <a:r>
              <a:rPr lang="en-I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#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Logs: Training loss every 10 steps</a:t>
            </a:r>
            <a:endParaRPr lang="en-IN" sz="1600" b="0" dirty="0">
              <a:solidFill>
                <a:schemeClr val="accent6">
                  <a:lumMod val="75000"/>
                </a:schemeClr>
              </a:solidFill>
              <a:effectLst/>
              <a:latin typeface="+mj-lt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0F57D4-784E-59BE-47A4-97510F686C49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848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B1B3-59DB-5EDD-2D6D-4C413039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665A7-33B3-6FFB-4360-C9DA8036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0F56158-0D19-D3E4-4F41-400ADBEA2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E8722-990C-4D26-07AA-6AC36D3CDC0F}"/>
              </a:ext>
            </a:extLst>
          </p:cNvPr>
          <p:cNvSpPr txBox="1"/>
          <p:nvPr/>
        </p:nvSpPr>
        <p:spPr>
          <a:xfrm>
            <a:off x="-2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Inference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544025-C326-83D1-132C-B095A7351FD1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89DD37-D276-A225-FBF7-344C56D14378}"/>
              </a:ext>
            </a:extLst>
          </p:cNvPr>
          <p:cNvSpPr txBox="1"/>
          <p:nvPr/>
        </p:nvSpPr>
        <p:spPr>
          <a:xfrm>
            <a:off x="1391409" y="700959"/>
            <a:ext cx="9455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Inference: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39A25-79C6-D796-1DFB-F877358CB737}"/>
              </a:ext>
            </a:extLst>
          </p:cNvPr>
          <p:cNvSpPr txBox="1"/>
          <p:nvPr/>
        </p:nvSpPr>
        <p:spPr>
          <a:xfrm>
            <a:off x="1414428" y="2728144"/>
            <a:ext cx="9409175" cy="27077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1100" dirty="0"/>
              <a:t>Python</a:t>
            </a:r>
            <a:endParaRPr lang="en-IN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+mj-lt"/>
              </a:rPr>
              <a:t>device = </a:t>
            </a:r>
            <a:r>
              <a:rPr lang="en-IN" b="0" dirty="0" err="1">
                <a:solidFill>
                  <a:srgbClr val="000000"/>
                </a:solidFill>
                <a:effectLst/>
                <a:latin typeface="+mj-lt"/>
              </a:rPr>
              <a:t>torch.device</a:t>
            </a:r>
            <a:r>
              <a:rPr lang="en-IN" b="0" dirty="0">
                <a:effectLst/>
                <a:latin typeface="+mj-lt"/>
              </a:rPr>
              <a:t>(</a:t>
            </a:r>
            <a:r>
              <a:rPr lang="en-IN" b="0" dirty="0">
                <a:solidFill>
                  <a:srgbClr val="0070C0"/>
                </a:solidFill>
                <a:effectLst/>
                <a:latin typeface="+mj-lt"/>
              </a:rPr>
              <a:t>"</a:t>
            </a:r>
            <a:r>
              <a:rPr lang="en-IN" b="0" dirty="0" err="1">
                <a:solidFill>
                  <a:srgbClr val="0070C0"/>
                </a:solidFill>
                <a:effectLst/>
                <a:latin typeface="+mj-lt"/>
              </a:rPr>
              <a:t>cuda</a:t>
            </a:r>
            <a:r>
              <a:rPr lang="en-IN" b="0" dirty="0">
                <a:solidFill>
                  <a:srgbClr val="0070C0"/>
                </a:solidFill>
                <a:effectLst/>
                <a:latin typeface="+mj-lt"/>
              </a:rPr>
              <a:t>" if </a:t>
            </a:r>
            <a:r>
              <a:rPr lang="en-IN" b="0" dirty="0" err="1">
                <a:solidFill>
                  <a:srgbClr val="0070C0"/>
                </a:solidFill>
                <a:effectLst/>
                <a:latin typeface="+mj-lt"/>
              </a:rPr>
              <a:t>torch.cuda.is_available</a:t>
            </a:r>
            <a:r>
              <a:rPr lang="en-IN" b="0" dirty="0">
                <a:solidFill>
                  <a:srgbClr val="0070C0"/>
                </a:solidFill>
                <a:effectLst/>
                <a:latin typeface="+mj-lt"/>
              </a:rPr>
              <a:t>() else "</a:t>
            </a:r>
            <a:r>
              <a:rPr lang="en-IN" b="0" dirty="0" err="1">
                <a:solidFill>
                  <a:srgbClr val="0070C0"/>
                </a:solidFill>
                <a:effectLst/>
                <a:latin typeface="+mj-lt"/>
              </a:rPr>
              <a:t>cpu</a:t>
            </a:r>
            <a:r>
              <a:rPr lang="en-IN" b="0" dirty="0">
                <a:solidFill>
                  <a:srgbClr val="0070C0"/>
                </a:solidFill>
                <a:effectLst/>
                <a:latin typeface="+mj-lt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+mj-lt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+mj-lt"/>
              </a:rPr>
              <a:t>output_tokens</a:t>
            </a:r>
            <a:r>
              <a:rPr lang="en-US" b="0" dirty="0">
                <a:solidFill>
                  <a:srgbClr val="000000"/>
                </a:solidFill>
                <a:effectLst/>
                <a:latin typeface="+mj-lt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+mj-lt"/>
              </a:rPr>
              <a:t>model.generate</a:t>
            </a:r>
            <a:r>
              <a:rPr lang="en-US" b="0" dirty="0">
                <a:solidFill>
                  <a:srgbClr val="000000"/>
                </a:solidFill>
                <a:effectLst/>
                <a:latin typeface="+mj-lt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70C0"/>
                </a:solidFill>
                <a:effectLst/>
                <a:latin typeface="+mj-lt"/>
              </a:rPr>
              <a:t>        **inputs,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70C0"/>
                </a:solidFill>
                <a:effectLst/>
                <a:latin typeface="+mj-lt"/>
              </a:rPr>
              <a:t>        </a:t>
            </a:r>
            <a:r>
              <a:rPr lang="en-US" b="0" dirty="0" err="1">
                <a:solidFill>
                  <a:srgbClr val="0070C0"/>
                </a:solidFill>
                <a:effectLst/>
                <a:latin typeface="+mj-lt"/>
              </a:rPr>
              <a:t>do_sample</a:t>
            </a:r>
            <a:r>
              <a:rPr lang="en-US" b="0" dirty="0">
                <a:solidFill>
                  <a:srgbClr val="0070C0"/>
                </a:solidFill>
                <a:effectLst/>
                <a:latin typeface="+mj-lt"/>
              </a:rPr>
              <a:t>=</a:t>
            </a:r>
            <a:r>
              <a:rPr lang="en-US" b="1" dirty="0">
                <a:solidFill>
                  <a:srgbClr val="0070C0"/>
                </a:solidFill>
                <a:effectLst/>
                <a:latin typeface="+mj-lt"/>
              </a:rPr>
              <a:t>False</a:t>
            </a:r>
            <a:r>
              <a:rPr lang="en-US" b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en-US" b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</a:rPr>
              <a:t> 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# Use deterministic output. We change to True for sampling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70C0"/>
                </a:solidFill>
                <a:effectLst/>
                <a:latin typeface="+mj-lt"/>
              </a:rPr>
              <a:t>        temperature=</a:t>
            </a:r>
            <a:r>
              <a:rPr lang="en-US" b="1" dirty="0">
                <a:solidFill>
                  <a:srgbClr val="0070C0"/>
                </a:solidFill>
                <a:effectLst/>
                <a:latin typeface="+mj-lt"/>
              </a:rPr>
              <a:t>0.0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+mj-lt"/>
              </a:rPr>
              <a:t>    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FF4E8-8565-01E9-7D49-44E6C04544D9}"/>
              </a:ext>
            </a:extLst>
          </p:cNvPr>
          <p:cNvSpPr txBox="1"/>
          <p:nvPr/>
        </p:nvSpPr>
        <p:spPr>
          <a:xfrm>
            <a:off x="1391409" y="1226714"/>
            <a:ext cx="9388673" cy="1291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Reload model + tokenizer</a:t>
            </a:r>
          </a:p>
          <a:p>
            <a:pPr>
              <a:lnSpc>
                <a:spcPct val="150000"/>
              </a:lnSpc>
            </a:pPr>
            <a:r>
              <a:rPr lang="en-IN" dirty="0"/>
              <a:t>Same prompt format</a:t>
            </a:r>
          </a:p>
          <a:p>
            <a:pPr>
              <a:lnSpc>
                <a:spcPct val="150000"/>
              </a:lnSpc>
            </a:pPr>
            <a:r>
              <a:rPr lang="en-IN" dirty="0"/>
              <a:t>Deterministic decode (temperature=</a:t>
            </a:r>
            <a:r>
              <a:rPr lang="en-IN" b="1" dirty="0"/>
              <a:t>0.0</a:t>
            </a:r>
            <a:r>
              <a:rPr lang="en-IN" dirty="0"/>
              <a:t>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2A046D-7069-D0A6-2FE3-0BDFEE8231A1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643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BE36-EAFB-EBC0-E2C0-3EEB1165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86C58-70FA-3968-0BD0-2477D4CC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AC6EC3C-9501-631B-5511-EA451E58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C4897-715E-3576-9EE9-39E0D5E46334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Fine-tuning: </a:t>
            </a:r>
            <a:r>
              <a:rPr lang="en-IN" sz="2800" dirty="0">
                <a:solidFill>
                  <a:srgbClr val="0070C0"/>
                </a:solidFill>
              </a:rPr>
              <a:t>Evaluation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C8DB13-A5F7-9A1E-E7E8-05FB4382A38F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901835-EE9D-9E6F-3776-4F0DCEAE52E0}"/>
              </a:ext>
            </a:extLst>
          </p:cNvPr>
          <p:cNvSpPr txBox="1"/>
          <p:nvPr/>
        </p:nvSpPr>
        <p:spPr>
          <a:xfrm>
            <a:off x="1643268" y="707886"/>
            <a:ext cx="89054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Validation Dataset: Contains a total of 100 examples with 10 of each type of complexity</a:t>
            </a:r>
          </a:p>
          <a:p>
            <a:r>
              <a:rPr lang="en-IN" dirty="0"/>
              <a:t>Accuracy: </a:t>
            </a:r>
            <a:r>
              <a:rPr lang="en-IN" sz="2000" b="1" dirty="0">
                <a:solidFill>
                  <a:srgbClr val="0070C0"/>
                </a:solidFill>
              </a:rPr>
              <a:t>80.81 %</a:t>
            </a:r>
            <a:endParaRPr lang="en-IN" dirty="0"/>
          </a:p>
          <a:p>
            <a:r>
              <a:rPr lang="en-IN" dirty="0"/>
              <a:t>Detailed Report: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44FAE7-7664-7AE3-FC32-E9D8083B0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46511"/>
              </p:ext>
            </p:extLst>
          </p:nvPr>
        </p:nvGraphicFramePr>
        <p:xfrm>
          <a:off x="2105986" y="1873040"/>
          <a:ext cx="8128000" cy="40792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953748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991401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13001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2784251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18782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Label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Precision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F1-Score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93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200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917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O(n^2)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72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O(n*m)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255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O(log 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7997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 * log 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13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O(n^3)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936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O(2^n)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98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n^m</a:t>
                      </a:r>
                      <a:r>
                        <a:rPr lang="en-IN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272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O(n!)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74412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7B2C74-3F83-3E94-BA82-66D81E300A42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024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C667-9C7D-0C24-7E92-540A1C6B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8879E-381C-C725-8C27-C2A3BEF7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360BADA-1B2F-2B76-12AA-C3A6990E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6303256"/>
            <a:ext cx="8905461" cy="554744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Fine-Tuning </a:t>
            </a:r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DeepSeek Coder-1.3B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Time Complexity Prediction</a:t>
            </a:r>
            <a:br>
              <a:rPr lang="en-IN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0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0C013-4EB4-56F1-5C59-E9EA2A277987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Deployment: </a:t>
            </a:r>
            <a:r>
              <a:rPr lang="en-IN" sz="2800" dirty="0">
                <a:solidFill>
                  <a:srgbClr val="0070C0"/>
                </a:solidFill>
              </a:rPr>
              <a:t>Hugging Face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515DB3-F9A6-400B-DCFD-C58BF9B3468C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F76E45-22CD-98CA-F066-687BBFA3EF31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CFBD20-4AD6-190D-9667-54C06D587642}"/>
              </a:ext>
            </a:extLst>
          </p:cNvPr>
          <p:cNvSpPr txBox="1"/>
          <p:nvPr/>
        </p:nvSpPr>
        <p:spPr>
          <a:xfrm>
            <a:off x="2066732" y="758103"/>
            <a:ext cx="890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Link: </a:t>
            </a:r>
            <a:r>
              <a:rPr lang="en-IN" sz="2000" b="1" dirty="0">
                <a:hlinkClick r:id="rId3"/>
              </a:rPr>
              <a:t>malviya7665/deepseek-complexity-1.3b</a:t>
            </a:r>
            <a:r>
              <a:rPr lang="en-IN" sz="20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F1584-F1F8-B9FE-336C-729BA7688362}"/>
              </a:ext>
            </a:extLst>
          </p:cNvPr>
          <p:cNvSpPr txBox="1"/>
          <p:nvPr/>
        </p:nvSpPr>
        <p:spPr>
          <a:xfrm>
            <a:off x="1903343" y="1198968"/>
            <a:ext cx="866692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0070C0"/>
                </a:solidFill>
              </a:rPr>
              <a:t>adapter_config.json</a:t>
            </a:r>
            <a:endParaRPr lang="en-US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 err="1"/>
              <a:t>LoRA</a:t>
            </a:r>
            <a:r>
              <a:rPr lang="en-US" dirty="0"/>
              <a:t> settings (rank, alpha, dropout, target modules) for rebuilding your adapters.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0070C0"/>
                </a:solidFill>
              </a:rPr>
              <a:t>adapter_model.safetensors</a:t>
            </a:r>
            <a:endParaRPr lang="en-US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The ~0.2 M trained adapter weights in </a:t>
            </a:r>
            <a:r>
              <a:rPr lang="en-US" dirty="0" err="1"/>
              <a:t>SafeTensors</a:t>
            </a:r>
            <a:r>
              <a:rPr lang="en-US" dirty="0"/>
              <a:t> format.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0070C0"/>
                </a:solidFill>
              </a:rPr>
              <a:t>special_tokens_map.json</a:t>
            </a:r>
            <a:endParaRPr lang="en-US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Any custom or remapped special tokens used during training.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0070C0"/>
                </a:solidFill>
              </a:rPr>
              <a:t>tokenizer.json</a:t>
            </a:r>
            <a:r>
              <a:rPr lang="en-US" b="1" dirty="0">
                <a:solidFill>
                  <a:srgbClr val="0070C0"/>
                </a:solidFill>
              </a:rPr>
              <a:t> &amp; </a:t>
            </a:r>
            <a:r>
              <a:rPr lang="en-US" b="1" dirty="0" err="1">
                <a:solidFill>
                  <a:srgbClr val="0070C0"/>
                </a:solidFill>
              </a:rPr>
              <a:t>tokenizer_config.json</a:t>
            </a:r>
            <a:endParaRPr lang="en-US" b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Full tokenizer (vocab, merges) and its config (pad/EOS tokens, normalization).</a:t>
            </a:r>
          </a:p>
          <a:p>
            <a:endParaRPr lang="en-US" sz="1600" dirty="0"/>
          </a:p>
          <a:p>
            <a:r>
              <a:rPr lang="en-US" sz="1600" dirty="0"/>
              <a:t>Note: Base model weights aren’t saved here—only the </a:t>
            </a:r>
            <a:r>
              <a:rPr lang="en-US" sz="1600" dirty="0" err="1"/>
              <a:t>LoRA</a:t>
            </a:r>
            <a:r>
              <a:rPr lang="en-US" sz="1600" dirty="0"/>
              <a:t> adapters and tokenizer. The 1.3 B frozen weights load automatically from the original model when you run inference.</a:t>
            </a:r>
            <a:endParaRPr lang="en-IN" sz="1600" dirty="0"/>
          </a:p>
        </p:txBody>
      </p:sp>
      <p:pic>
        <p:nvPicPr>
          <p:cNvPr id="14" name="Graphic 13" descr="Document">
            <a:extLst>
              <a:ext uri="{FF2B5EF4-FFF2-40B4-BE49-F238E27FC236}">
                <a16:creationId xmlns:a16="http://schemas.microsoft.com/office/drawing/2014/main" id="{6352D1FF-4F5D-9A8A-B87A-3DE59AF782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3268" y="1340673"/>
            <a:ext cx="292007" cy="292007"/>
          </a:xfrm>
          <a:prstGeom prst="rect">
            <a:avLst/>
          </a:prstGeom>
        </p:spPr>
      </p:pic>
      <p:pic>
        <p:nvPicPr>
          <p:cNvPr id="15" name="Graphic 14" descr="Document">
            <a:extLst>
              <a:ext uri="{FF2B5EF4-FFF2-40B4-BE49-F238E27FC236}">
                <a16:creationId xmlns:a16="http://schemas.microsoft.com/office/drawing/2014/main" id="{E066A262-5FA9-70EF-FCAC-EE8A4B376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6244" y="2440446"/>
            <a:ext cx="292007" cy="292007"/>
          </a:xfrm>
          <a:prstGeom prst="rect">
            <a:avLst/>
          </a:prstGeom>
        </p:spPr>
      </p:pic>
      <p:pic>
        <p:nvPicPr>
          <p:cNvPr id="16" name="Graphic 15" descr="Document">
            <a:extLst>
              <a:ext uri="{FF2B5EF4-FFF2-40B4-BE49-F238E27FC236}">
                <a16:creationId xmlns:a16="http://schemas.microsoft.com/office/drawing/2014/main" id="{F90F7509-2780-A7D3-6295-55B326923F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790" y="3540219"/>
            <a:ext cx="292007" cy="292007"/>
          </a:xfrm>
          <a:prstGeom prst="rect">
            <a:avLst/>
          </a:prstGeom>
        </p:spPr>
      </p:pic>
      <p:pic>
        <p:nvPicPr>
          <p:cNvPr id="17" name="Graphic 16" descr="Document">
            <a:extLst>
              <a:ext uri="{FF2B5EF4-FFF2-40B4-BE49-F238E27FC236}">
                <a16:creationId xmlns:a16="http://schemas.microsoft.com/office/drawing/2014/main" id="{6540CC9F-76CF-8540-3434-5D05D14B9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7302" y="4615471"/>
            <a:ext cx="292007" cy="292007"/>
          </a:xfrm>
          <a:prstGeom prst="rect">
            <a:avLst/>
          </a:prstGeom>
        </p:spPr>
      </p:pic>
      <p:pic>
        <p:nvPicPr>
          <p:cNvPr id="19" name="Graphic 18" descr="Open folder">
            <a:extLst>
              <a:ext uri="{FF2B5EF4-FFF2-40B4-BE49-F238E27FC236}">
                <a16:creationId xmlns:a16="http://schemas.microsoft.com/office/drawing/2014/main" id="{4AFD8E72-779A-25FE-E42B-C50BA73A7F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7538" y="755125"/>
            <a:ext cx="423466" cy="42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16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75C6-008C-CDCF-3BFA-85E5A7F9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B2AEB-AE53-2ADA-48FD-8B1C2A58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1C8E988-8867-902E-DE8E-6FB6368D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268" y="-496956"/>
            <a:ext cx="8905461" cy="7354956"/>
          </a:xfrm>
          <a:ln>
            <a:solidFill>
              <a:srgbClr val="FFFFFF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Fine-Tuning LLM for Time Complexity Prediction</a:t>
            </a:r>
            <a:br>
              <a:rPr lang="en-IN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IN" sz="1400" dirty="0">
                <a:solidFill>
                  <a:schemeClr val="bg1">
                    <a:lumMod val="50000"/>
                  </a:schemeClr>
                </a:solidFill>
              </a:rPr>
              <a:t>Manish Kumar (SC24M147) - Ma642 - Data modelling lab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61859-60B6-E91F-60DE-E388E9D089E7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</a:rPr>
              <a:t>Thanks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CDC527-C8C8-A579-24BC-5715EAB0D9EB}"/>
              </a:ext>
            </a:extLst>
          </p:cNvPr>
          <p:cNvCxnSpPr>
            <a:cxnSpLocks/>
          </p:cNvCxnSpPr>
          <p:nvPr/>
        </p:nvCxnSpPr>
        <p:spPr>
          <a:xfrm>
            <a:off x="0" y="523220"/>
            <a:ext cx="1219200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FB2119A-1266-A305-400A-1D89B4EA1886}"/>
              </a:ext>
            </a:extLst>
          </p:cNvPr>
          <p:cNvCxnSpPr/>
          <p:nvPr/>
        </p:nvCxnSpPr>
        <p:spPr>
          <a:xfrm>
            <a:off x="0" y="635634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611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openxmlformats.org/package/2006/metadata/core-properties"/>
    <ds:schemaRef ds:uri="16c05727-aa75-4e4a-9b5f-8a80a1165891"/>
    <ds:schemaRef ds:uri="http://www.w3.org/XML/1998/namespace"/>
    <ds:schemaRef ds:uri="230e9df3-be65-4c73-a93b-d1236ebd677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71af3243-3dd4-4a8d-8c0d-dd76da1f02a5"/>
    <ds:schemaRef ds:uri="http://schemas.microsoft.com/sharepoint/v3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1407</TotalTime>
  <Words>1662</Words>
  <Application>Microsoft Office PowerPoint</Application>
  <PresentationFormat>Widescreen</PresentationFormat>
  <Paragraphs>363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Roboto</vt:lpstr>
      <vt:lpstr>Source Sans Pro</vt:lpstr>
      <vt:lpstr>Tenorite</vt:lpstr>
      <vt:lpstr>Wingdings</vt:lpstr>
      <vt:lpstr>Custom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DeepSeek Coder-1.3B for Time Complexity Prediction Manish Kumar (SC24M147) - Ma642 - Data modelling lab ii</vt:lpstr>
      <vt:lpstr>Fine-Tuning LLM for Time Complexity Prediction Manish Kumar (SC24M147) - Ma642 - Data modelling lab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 Malviya</dc:creator>
  <cp:lastModifiedBy>Manish Malviya</cp:lastModifiedBy>
  <cp:revision>28</cp:revision>
  <dcterms:created xsi:type="dcterms:W3CDTF">2025-04-10T16:25:58Z</dcterms:created>
  <dcterms:modified xsi:type="dcterms:W3CDTF">2025-05-16T09:35:23Z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